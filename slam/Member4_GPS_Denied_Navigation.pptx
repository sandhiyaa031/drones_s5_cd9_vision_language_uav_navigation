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8FAFC"/>
                </a:solidFill>
              </a:defRPr>
            </a:pPr>
            <a:r>
              <a:t>AUTONOMOUS UAV GPS-DENIED NAVIGATION</a:t>
            </a:r>
          </a:p>
          <a:p>
            <a:pPr>
              <a:spcAft>
                <a:spcPts val="2500"/>
              </a:spcAft>
              <a:defRPr sz="2000">
                <a:solidFill>
                  <a:srgbClr val="38BDF8"/>
                </a:solidFill>
              </a:defRPr>
            </a:pPr>
            <a:r>
              <a:t>Real-Time Visual SLAM, 15-State Multi-Sensor EKF &amp; MAVROS Bridge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Presenter: Member 4 (GPS-Denied Navigation Engineer)</a:t>
            </a:r>
            <a:br/>
            <a:r>
              <a:t>Tech Stack: ROS 2 Jazzy/Humble • OpenCV • ORB-SLAM3 • RTAB-Map • MAVROS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Mission Scope &amp; Operational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923C"/>
                </a:solidFill>
              </a:defRPr>
            </a:pPr>
            <a:r>
              <a:t>⚠️ The GPS-Denied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GNSS satellite denial occurs in indoor buildings, tunnels, dense tree canopies, and urban canyons.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Standard drone flight stacks fail or drift exponentially without global position feedback.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Visual tracking faces motion blur, feature-poor zones, rapid rotations, and scale ambiguity.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Demands deterministic, real-time 6-DoF state estimation (&lt; 15ms latency) to prevent drone crashes.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🎯 Member 4 Core Responsibilities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Visual Odometry: Real-time feature tracking &amp; 5-point Essential Matrix motion recovery.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Multi-Sensor EKF: 15-state filter fusing 100 Hz IMU, 30 Hz VO, and 20 Hz Rangefinder.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Coordinate Standardization: Full REP-103/105 TF2 tree &amp; ENU-to-NED MAVROS bridge.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Obstacle Mapping: Real-time 2D/3D occupancy grid generation for collision avoidance.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Cross-Member Delivery: Continuous vision odometry feeding Member 1 (VLM), Member 2 (SITL), and Member 5 (Memory).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Real-Time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Perception &amp; 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Camera: 640x480 @ 30 FPS.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KLT Optical Flow with forward-backward error validation.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FAST / ORB with Spatial Grid Bucketing across FOV.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5-Point Essential Matrix + RANSAC pose recovery.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Landmark Triangulation &amp; Metric Scale Estimation.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2. 15-State EKF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574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IMU Mechanization at 100 Hz with gravity compensation.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Continuous bias tracking (accelerometer &amp; gyro).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Asynchronous VO &amp; Rangefinder measurement updates.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Adaptive Mahalanobis gating.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Outputs smooth /odom/filtered at 50 Hz (&lt; 1ms latency).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Bridge &amp;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574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TF2 Broadcaster: map -&gt; odom -&gt; base_link -&gt; camera.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MAVROS Bridge: Transforms ENU odometry to NED for /mavros/vision_pose/pose.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Occupancy Grid: 10cm resolution 2D obstacle costmap (/map).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Diagnostics: SLAM tracking health monitor on /diagnostics.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High-Speed Visual Odometry (vo_node)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Feature Tracking &amp;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Spatial Grid Bucketing: Divides the frame into a 4x4 grid to enforce uniform feature distribution and prevent clustering in high-contrast corners.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Pyramidal Lucas-Kanade (KLT): Multi-scale optical flow tracking at 30+ FPS.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Bidirectional Consistency: Forward-backward optical flow check (||p0 - p0_bwd|| &lt; 1.0 px) discards occlusions and moving objects.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Sub-pixel Corner Refinement: Enhances angular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Epipolar Geometry &amp; Motion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Epipolar Constraint: x2^T * E * x1 = 0 where E = [t]_x * 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5-Point RANSAC: Computes Essential Matrix with 99.9% confidence and sub-pixel inlier thresholds.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Cheirality Check: SVD decomposition disambiguates the 4 possible (R, t) solutions ensuring positive depth (Z &gt; 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Metric Scale Recovery: Disambiguates scale factor using optical flow divergence and downward rangefinder altitude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15-State Error-State EKF Fusion (ekf_fusion_node)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State Formulation &amp; Kinematics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Nominal State Vector (15-DoF): Position [x, y, z], Velocity [vx, vy, vz], Orientation Quaternion [qx, qy, qz, qw], Accel Bias [bax, bay, baz], Gyro Bias [bgx, bgy, bgz].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High-Rate Mechanization: Propagates state at 100 Hz using IMU accelerations and angular rates.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Gravity Compensation: Accurately subtracts world gravity vector g = [0, 0, -9.81] in ENU world frame.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Quaternion Algebra: Multiplicative error-state integration avoids gimbal lock.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Asynchronous Measurement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Visual Odometry Update (30 Hz): Injects full 6-DoF position and rotation error residuals into Kalman gain.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Rangefinder Altitude Update (20 Hz): Injects direct Z-altitude innovations to eliminate vertical drift.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Adaptive Mahalanobis Gating: Soft gating prevents outlier teleports while maintaining continuous tracking.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Joseph-Form Covariance Update: Guarantees positive semi-definite covariance P matrix across all iterations.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TF2 Coordinate Frames &amp; MAVROS 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Standard REP-103 / REP-105 TF2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map: Global fixed reference frame (takeoff origin).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odom: Continuous, smooth, drift-free local navigation frame.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base_link: UAV Center of Mass (FLU: Forward-Left-Up).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camera_link: Front physical camera mount.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camera_optical_frame: Optical standard (X-Right, Y-Down, Z-Forward).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imu_link: Co-located IMU sensor origin.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MAVROS Vision Pose Bridge (ENU -&gt; NED)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Coordinate Transformation: Converts ROS ENU coordinates to Aviation NED: X_ned = Y_enu, Y_ned = X_enu, Z_ned = -Z_enu.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MAVROS Output: Feeds /mavros/vision_pose/pose (PoseStamped) and /mavros/odometry/out (Odometry) at 30 Hz.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Flight Stack Fusion: Enables ArduPilot EKF3 (VISO_TYPE=1) and PX4 EKF2 (EV_AID) to achieve stable autonomous hover &amp; waypoint navigation without GPS.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Occupancy Grid Mapping &amp; SLAM Wrappers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0A5FA"/>
                </a:solidFill>
              </a:defRPr>
            </a:pPr>
            <a:r>
              <a:t>2D/3D Obstacle Occupancy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Voxel Downsampling: Spatial quantization at 10cm grid resolution reduces point cloud overhead.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Statistical Outlier Removal (SOR): Prunes sensor noise and depth artifacts.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RANSAC Ground Segmentation: Separates ground floor from vertical obstacles and walls.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Bayesian Log-Odds Updates: Publishes 2D rolling costmap (/costmap/costmap) and global obstacle map (/map) for Member 1 VLM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ORB-SLAM3 &amp; RTAB-Map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RTAB-Map Launch: launch/rtabmap_slam.launch.py with loop closure detection, STM memory management, and OctoMap export.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ORB-SLAM3 Config: config/orb_slam3_mono_inertial.yaml tuned with calibrated intrinsics, noise densities, and scale pyramid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Multi-Session Mapping: Supports keyframe database storage and global map reload.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MEMBER 4 • GPS-DENIED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Experimental Verification &amp; Benchmark Results</a:t>
            </a:r>
          </a:p>
        </p:txBody>
      </p:sp>
      <p:pic>
        <p:nvPicPr>
          <p:cNvPr id="5" name="Picture 4" descr="evaluation_benchmark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47548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Evaluation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100% Unit Test Pass: All 11 automated test suites passed (pytest -v tests/).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Flight Distance: 37.69 m 3D Figure-8 Flight.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Absolute Trajectory Error (ATE RMSE): 3.48 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Relative Pose Error (RPE): 3.47 m.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Real-Time Throughput: 16+ FPS on standard laptop CPU (100 Hz EKF).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Zero GPS Dependency: Fully autonomous drift-resilient state estimation.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Ready for integration with Members 1, 2, 3, and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